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B5CC80-1D69-00B8-5570-F56CAB42F778}" name="Ariana (May Brany Aung) - OILC Business and Management Tutor" initials="AT" userId="S::ariana@oipc.co.uk::31f42379-00d9-402b-8fb0-77511f7409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02FA58-50EF-6941-FA0D-F67EF4DCFD02}" v="2" dt="2026-05-22T09:43:42.227"/>
    <p1510:client id="{E80C62E8-3861-238C-3805-8EA41FA1CB8F}" v="3" dt="2026-05-22T09:22:22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A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0A2342"/>
                </a:solidFill>
                <a:latin typeface="Arial"/>
              </a:rPr>
              <a:t>KPI Target Improvements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(%)</c:v>
                </c:pt>
              </c:strCache>
            </c:strRef>
          </c:tx>
          <c:spPr>
            <a:solidFill>
              <a:srgbClr val="0D7B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A1-4ECB-A6C1-12FB241B80D6}"/>
              </c:ext>
            </c:extLst>
          </c:dPt>
          <c:dPt>
            <c:idx val="1"/>
            <c:invertIfNegative val="0"/>
            <c:bubble3D val="0"/>
            <c:spPr>
              <a:solidFill>
                <a:srgbClr val="14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A1-4ECB-A6C1-12FB241B80D6}"/>
              </c:ext>
            </c:extLst>
          </c:dPt>
          <c:dPt>
            <c:idx val="2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A1-4ECB-A6C1-12FB241B80D6}"/>
              </c:ext>
            </c:extLst>
          </c:dPt>
          <c:dPt>
            <c:idx val="3"/>
            <c:invertIfNegative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A1-4ECB-A6C1-12FB241B80D6}"/>
              </c:ext>
            </c:extLst>
          </c:dPt>
          <c:dPt>
            <c:idx val="4"/>
            <c:invertIfNegative val="0"/>
            <c:bubble3D val="0"/>
            <c:spPr>
              <a:solidFill>
                <a:srgbClr val="1A6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A1-4ECB-A6C1-12FB241B80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Booking Time
Reduction</c:v>
                </c:pt>
                <c:pt idx="1">
                  <c:v>Patient
Satisfaction</c:v>
                </c:pt>
                <c:pt idx="2">
                  <c:v>Adoption
Rate</c:v>
                </c:pt>
                <c:pt idx="3">
                  <c:v>Triage
Accuracy</c:v>
                </c:pt>
                <c:pt idx="4">
                  <c:v>Workload
Reduction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85</c:v>
                </c:pt>
                <c:pt idx="2">
                  <c:v>65</c:v>
                </c:pt>
                <c:pt idx="3">
                  <c:v>87.5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A1-4ECB-A6C1-12FB241B8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F5-446D-8D50-7051532DB702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F5-446D-8D50-7051532DB702}"/>
              </c:ext>
            </c:extLst>
          </c:dPt>
          <c:dPt>
            <c:idx val="2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F5-446D-8D50-7051532DB702}"/>
              </c:ext>
            </c:extLst>
          </c:dPt>
          <c:dPt>
            <c:idx val="3"/>
            <c:bubble3D val="0"/>
            <c:spPr>
              <a:solidFill>
                <a:srgbClr val="0D7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F5-446D-8D50-7051532DB702}"/>
              </c:ext>
            </c:extLst>
          </c:dPt>
          <c:dPt>
            <c:idx val="4"/>
            <c:bubble3D val="0"/>
            <c:spPr>
              <a:solidFill>
                <a:srgbClr val="1A6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F5-446D-8D50-7051532DB702}"/>
              </c:ext>
            </c:extLst>
          </c:dPt>
          <c:dPt>
            <c:idx val="5"/>
            <c:bubble3D val="0"/>
            <c:spPr>
              <a:solidFill>
                <a:srgbClr val="7E9B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0F5-446D-8D50-7051532DB70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F5-446D-8D50-7051532DB70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F5-446D-8D50-7051532DB70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F5-446D-8D50-7051532DB70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F5-446D-8D50-7051532DB70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F5-446D-8D50-7051532DB70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0F5-446D-8D50-7051532DB70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Patient Trust &amp; Adoption</c:v>
                </c:pt>
                <c:pt idx="1">
                  <c:v>Data Security</c:v>
                </c:pt>
                <c:pt idx="2">
                  <c:v>AI Accuracy</c:v>
                </c:pt>
                <c:pt idx="3">
                  <c:v>Digital Access</c:v>
                </c:pt>
                <c:pt idx="4">
                  <c:v>Legal/Compliance</c:v>
                </c:pt>
                <c:pt idx="5">
                  <c:v>Budget Risk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0F5-446D-8D50-7051532DB7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4E-474C-B666-28356E88365D}"/>
              </c:ext>
            </c:extLst>
          </c:dPt>
          <c:dPt>
            <c:idx val="1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4E-474C-B666-28356E88365D}"/>
              </c:ext>
            </c:extLst>
          </c:dPt>
          <c:dPt>
            <c:idx val="2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4E-474C-B666-28356E88365D}"/>
              </c:ext>
            </c:extLst>
          </c:dPt>
          <c:dPt>
            <c:idx val="3"/>
            <c:bubble3D val="0"/>
            <c:spPr>
              <a:solidFill>
                <a:srgbClr val="1A6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4E-474C-B666-28356E88365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4E-474C-B666-28356E88365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4E-474C-B666-28356E88365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F4E-474C-B666-28356E88365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F4E-474C-B666-28356E88365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Research &amp; Planning (10%)</c:v>
                </c:pt>
                <c:pt idx="1">
                  <c:v>Development &amp; Testing (45%)</c:v>
                </c:pt>
                <c:pt idx="2">
                  <c:v>Marketing &amp; Acquisition (25%)</c:v>
                </c:pt>
                <c:pt idx="3">
                  <c:v>Implementation &amp; Training (20%)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45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4E-474C-B666-28356E8836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808A2-39CC-4B21-8A03-4B3D787190DE}" type="datetimeFigureOut">
              <a:t>5/22/2026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0EB35-E759-4625-A5C1-A80750F1B1F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29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7B6E">
              <a:alpha val="15000"/>
            </a:srgbClr>
          </a:solidFill>
          <a:ln w="12700">
            <a:solidFill>
              <a:srgbClr val="0D7B6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926080"/>
            <a:ext cx="2560320" cy="2560320"/>
          </a:xfrm>
          <a:prstGeom prst="ellipse">
            <a:avLst/>
          </a:prstGeom>
          <a:solidFill>
            <a:srgbClr val="E8A838">
              <a:alpha val="12000"/>
            </a:srgbClr>
          </a:solidFill>
          <a:ln w="12700">
            <a:solidFill>
              <a:srgbClr val="E8A838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14A896"/>
                </a:solidFill>
              </a:rPr>
              <a:t>PROJECT PITCH PRESENTATION  |  BUSI 1725 PROJECT STUDY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CareRoute AI Assistant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C9EDE9"/>
                </a:solidFill>
              </a:rPr>
              <a:t>Business Proposal for HealthRoute Ltd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E8A838"/>
                </a:solidFill>
              </a:rPr>
              <a:t>Scenario 3 – AI-Powered GP Appointment and Triage System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572000" cy="0"/>
          </a:xfrm>
          <a:prstGeom prst="line">
            <a:avLst/>
          </a:prstGeom>
          <a:noFill/>
          <a:ln w="1905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8A838"/>
                </a:solidFill>
              </a:rPr>
              <a:t>Team:  </a:t>
            </a:r>
            <a:r>
              <a:rPr lang="en-US" sz="1050">
                <a:solidFill>
                  <a:srgbClr val="C9EDE9"/>
                </a:solidFill>
              </a:rPr>
              <a:t>InnovateCare  |  Group 5  –  September 2025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8A838"/>
                </a:solidFill>
              </a:rPr>
              <a:t>Members:  </a:t>
            </a:r>
            <a:r>
              <a:rPr lang="en-US" sz="1050">
                <a:solidFill>
                  <a:srgbClr val="C9EDE9"/>
                </a:solidFill>
              </a:rPr>
              <a:t>Wiam Bakhattouch (1101736)  |  Abdelmoumen Fettaka  |  Chan Set Naung (1147717)  |  Rasuljon Murodov (1140707)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8A838"/>
                </a:solidFill>
              </a:rPr>
              <a:t>Date:  </a:t>
            </a:r>
            <a:r>
              <a:rPr lang="en-US" sz="1050">
                <a:solidFill>
                  <a:srgbClr val="C9EDE9"/>
                </a:solidFill>
              </a:rPr>
              <a:t>31 May 2025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8A838"/>
                </a:solidFill>
              </a:rPr>
              <a:t>Module Tutors:  </a:t>
            </a:r>
            <a:r>
              <a:rPr lang="en-US" sz="1050">
                <a:solidFill>
                  <a:srgbClr val="C9EDE9"/>
                </a:solidFill>
              </a:rPr>
              <a:t>Oxford International Pathway Centres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E9BAF"/>
                </a:solidFill>
              </a:rPr>
              <a:t>BUSI 1725 – Project Study  |  Assessment 2 – Project Pitch Presentation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Table of Contents</a:t>
            </a:r>
            <a:endParaRPr lang="en-US" sz="190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Oxford International Pathway Centres – BUSI 1725 Project Study | September 2025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86968" y="10515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Introduction &amp; Scenario Overview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20040" y="172821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28216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2821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86968" y="172821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Key Challenges &amp; Proposed Solutions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04872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0487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86968" y="24048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Project Life Cycle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320040" y="308152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81528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04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86968" y="308152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Task Allocation – Belbin's Team Roles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320040" y="375818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58184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75818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05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886968" y="375818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Project Deliverables &amp; KPIs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4846320" y="105156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051560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05156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06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5413248" y="10515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Risk Management Strategy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4846320" y="172821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1728216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72821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07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5413248" y="172821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Project Plan &amp; Gantt Chart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4846320" y="24048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404872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40487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08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5413248" y="24048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Estimated Budget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4846320" y="308152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081528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09</a:t>
            </a:r>
            <a:endParaRPr lang="en-US" sz="1400"/>
          </a:p>
        </p:txBody>
      </p:sp>
      <p:sp>
        <p:nvSpPr>
          <p:cNvPr id="42" name="Text 40"/>
          <p:cNvSpPr/>
          <p:nvPr/>
        </p:nvSpPr>
        <p:spPr>
          <a:xfrm>
            <a:off x="5413248" y="308152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Summary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4846320" y="375818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3758184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75818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10</a:t>
            </a:r>
            <a:endParaRPr lang="en-US" sz="1400"/>
          </a:p>
        </p:txBody>
      </p:sp>
      <p:sp>
        <p:nvSpPr>
          <p:cNvPr id="46" name="Text 44"/>
          <p:cNvSpPr/>
          <p:nvPr/>
        </p:nvSpPr>
        <p:spPr>
          <a:xfrm>
            <a:off x="5413248" y="375818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D3A"/>
                </a:solidFill>
              </a:rPr>
              <a:t>References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Introduction &amp; Scenario Overview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CareRoute AI Assistant – Business Proposal for HealthRoute Ltd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NHS England (2023); NHS Digital (2023)   |   Oxford International – BUSI 1725 Project Study | Sept 2025</a:t>
            </a:r>
            <a:endParaRPr lang="en-US" sz="75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972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342"/>
                </a:solidFill>
              </a:rPr>
              <a:t>Project Overview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4846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E2D3A"/>
                </a:solidFill>
              </a:rPr>
              <a:t>CareRoute </a:t>
            </a:r>
            <a:r>
              <a:rPr lang="en-US" sz="1100">
                <a:solidFill>
                  <a:srgbClr val="1E2D3A"/>
                </a:solidFill>
              </a:rPr>
              <a:t>is an AI-powered triage and appointment booking system designed for independent GP practices across the UK.
</a:t>
            </a:r>
            <a:r>
              <a:rPr lang="en-US" sz="1100" b="1">
                <a:solidFill>
                  <a:srgbClr val="B03030"/>
                </a:solidFill>
              </a:rPr>
              <a:t>The Problem: </a:t>
            </a:r>
            <a:r>
              <a:rPr lang="en-US" sz="1100">
                <a:solidFill>
                  <a:srgbClr val="1E2D3A"/>
                </a:solidFill>
              </a:rPr>
              <a:t>The UK faces a severe GP access crisis, with over </a:t>
            </a:r>
            <a:r>
              <a:rPr lang="en-US" sz="1100" b="1">
                <a:solidFill>
                  <a:srgbClr val="1E2D3A"/>
                </a:solidFill>
              </a:rPr>
              <a:t>300 million consultations annually </a:t>
            </a:r>
            <a:r>
              <a:rPr lang="en-US" sz="1100">
                <a:solidFill>
                  <a:srgbClr val="1E2D3A"/>
                </a:solidFill>
              </a:rPr>
              <a:t>and approximately </a:t>
            </a:r>
            <a:r>
              <a:rPr lang="en-US" sz="1100" b="1">
                <a:solidFill>
                  <a:srgbClr val="1E2D3A"/>
                </a:solidFill>
              </a:rPr>
              <a:t>50% of patients waiting more than 2 weeks </a:t>
            </a:r>
            <a:r>
              <a:rPr lang="en-US" sz="1100">
                <a:solidFill>
                  <a:srgbClr val="1E2D3A"/>
                </a:solidFill>
              </a:rPr>
              <a:t>for an appointment (NHS England, 2023).
</a:t>
            </a:r>
            <a:r>
              <a:rPr lang="en-US" sz="1100" b="1">
                <a:solidFill>
                  <a:srgbClr val="0D7B6E"/>
                </a:solidFill>
              </a:rPr>
              <a:t>Our Solution: </a:t>
            </a:r>
            <a:r>
              <a:rPr lang="en-US" sz="1100">
                <a:solidFill>
                  <a:srgbClr val="1E2D3A"/>
                </a:solidFill>
              </a:rPr>
              <a:t>CareRoute allows patients to describe their symptoms in </a:t>
            </a:r>
            <a:r>
              <a:rPr lang="en-US" sz="1100" b="1">
                <a:solidFill>
                  <a:srgbClr val="1E2D3A"/>
                </a:solidFill>
              </a:rPr>
              <a:t>any language </a:t>
            </a:r>
            <a:r>
              <a:rPr lang="en-US" sz="1100">
                <a:solidFill>
                  <a:srgbClr val="1E2D3A"/>
                </a:solidFill>
              </a:rPr>
              <a:t>and receive immediate guidance on the appropriate level of care, while automatically booking the correct appointment — reducing pressure on GP staff and improving patient outcomes.
</a:t>
            </a:r>
            <a:r>
              <a:rPr lang="en-US" sz="1100" b="1">
                <a:solidFill>
                  <a:srgbClr val="1E2D3A"/>
                </a:solidFill>
              </a:rPr>
              <a:t>Client: </a:t>
            </a:r>
            <a:r>
              <a:rPr lang="en-US" sz="1100">
                <a:solidFill>
                  <a:srgbClr val="1E2D3A"/>
                </a:solidFill>
              </a:rPr>
              <a:t>HealthRoute Ltd – an independent GP network seeking digital transformation.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715000" y="1005840"/>
            <a:ext cx="3154680" cy="7863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88152" y="1005840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838"/>
                </a:solidFill>
              </a:rPr>
              <a:t>300M+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7086600" y="1005840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GP consultations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per year (NHS England, 2022)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5715000" y="1901952"/>
            <a:ext cx="3154680" cy="786384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88152" y="1901952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838"/>
                </a:solidFill>
              </a:rPr>
              <a:t>50%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7086600" y="190195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Patients wait &gt;2 weeks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for appointment (NHS Digital, 2023)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5715000" y="2798064"/>
            <a:ext cx="3154680" cy="7863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88152" y="2798064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838"/>
                </a:solidFill>
              </a:rPr>
              <a:t>75%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7086600" y="2798064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UK patients open to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digital health tools (Deloitte, 2022)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5715000" y="3694176"/>
            <a:ext cx="3154680" cy="786384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88152" y="369417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838"/>
                </a:solidFill>
              </a:rPr>
              <a:t>85–90%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7086600" y="3694176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AI triage accuracy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target (BMJ, 2020)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Key Challenges &amp; Proposed Solutions</a:t>
            </a:r>
            <a:endParaRPr lang="en-US" sz="190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NHS England (2023); BMJ (2020); Deloitte (2022)   |   Oxford International – BUSI 1725 Project Study | Sept 2025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069080" cy="822960"/>
          </a:xfrm>
          <a:prstGeom prst="rect">
            <a:avLst/>
          </a:prstGeom>
          <a:solidFill>
            <a:srgbClr val="FDF1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82296" cy="8229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33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B03030"/>
                </a:solidFill>
              </a:rPr>
              <a:t>CHALLENGE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2035"/>
                </a:solidFill>
              </a:rPr>
              <a:t>Long GP Waiting Times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282"/>
                </a:solidFill>
              </a:rPr>
              <a:t>~50% of patients in England wait over 2 weeks for a GP appointment, causing delayed diagnosis and patient frustration (NHS England, 2023).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4370832" y="987552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D7B6E"/>
                </a:solidFill>
              </a:rPr>
              <a:t>➜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4782312" y="987552"/>
            <a:ext cx="4087368" cy="822960"/>
          </a:xfrm>
          <a:prstGeom prst="rect">
            <a:avLst/>
          </a:prstGeom>
          <a:solidFill>
            <a:srgbClr val="EAF7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987552"/>
            <a:ext cx="82296" cy="8229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033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0D7B6E"/>
                </a:solidFill>
              </a:rPr>
              <a:t>SOLUTION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4965192" y="12344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D3A"/>
                </a:solidFill>
              </a:rPr>
              <a:t>AI-powered instant triage directs patients to appropriate care level, cutting booking time by 30–40%.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274320" y="1929384"/>
            <a:ext cx="4069080" cy="822960"/>
          </a:xfrm>
          <a:prstGeom prst="rect">
            <a:avLst/>
          </a:prstGeom>
          <a:solidFill>
            <a:srgbClr val="FDF1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29384"/>
            <a:ext cx="82296" cy="8229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751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B03030"/>
                </a:solidFill>
              </a:rPr>
              <a:t>CHALLENGE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457200" y="21488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2035"/>
                </a:solidFill>
              </a:rPr>
              <a:t>Overloaded Administrative Staff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57200" y="2386584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282"/>
                </a:solidFill>
              </a:rPr>
              <a:t>Receptionists handle high volumes of manual calls and bookings. Up to 30% of GP appointments could be automated (BMJ, 2020).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370832" y="1929384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D7B6E"/>
                </a:solidFill>
              </a:rPr>
              <a:t>➜</a:t>
            </a:r>
            <a:endParaRPr lang="en-US" sz="1800"/>
          </a:p>
        </p:txBody>
      </p:sp>
      <p:sp>
        <p:nvSpPr>
          <p:cNvPr id="23" name="Shape 21"/>
          <p:cNvSpPr/>
          <p:nvPr/>
        </p:nvSpPr>
        <p:spPr>
          <a:xfrm>
            <a:off x="4782312" y="1929384"/>
            <a:ext cx="4087368" cy="822960"/>
          </a:xfrm>
          <a:prstGeom prst="rect">
            <a:avLst/>
          </a:prstGeom>
          <a:solidFill>
            <a:srgbClr val="EAF7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1929384"/>
            <a:ext cx="82296" cy="8229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9751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0D7B6E"/>
                </a:solidFill>
              </a:rPr>
              <a:t>SOLUTION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4965192" y="217627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D3A"/>
                </a:solidFill>
              </a:rPr>
              <a:t>CareRoute automates appointment scheduling, reducing receptionist workload by 20–30%.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274320" y="2871216"/>
            <a:ext cx="4069080" cy="822960"/>
          </a:xfrm>
          <a:prstGeom prst="rect">
            <a:avLst/>
          </a:prstGeom>
          <a:solidFill>
            <a:srgbClr val="FDF1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871216"/>
            <a:ext cx="82296" cy="8229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169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B03030"/>
                </a:solidFill>
              </a:rPr>
              <a:t>CHALLENGE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457200" y="30906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2035"/>
                </a:solidFill>
              </a:rPr>
              <a:t>Inaccurate Self-Triage by Patients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57200" y="3328416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282"/>
                </a:solidFill>
              </a:rPr>
              <a:t>Patients often book inappropriate appointment types (e.g., A&amp;E for minor issues), wasting clinical resources and increasing costs.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4370832" y="2871216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D7B6E"/>
                </a:solidFill>
              </a:rPr>
              <a:t>➜</a:t>
            </a:r>
            <a:endParaRPr lang="en-US" sz="1800"/>
          </a:p>
        </p:txBody>
      </p:sp>
      <p:sp>
        <p:nvSpPr>
          <p:cNvPr id="33" name="Shape 31"/>
          <p:cNvSpPr/>
          <p:nvPr/>
        </p:nvSpPr>
        <p:spPr>
          <a:xfrm>
            <a:off x="4782312" y="2871216"/>
            <a:ext cx="4087368" cy="822960"/>
          </a:xfrm>
          <a:prstGeom prst="rect">
            <a:avLst/>
          </a:prstGeom>
          <a:solidFill>
            <a:srgbClr val="EAF7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82312" y="2871216"/>
            <a:ext cx="82296" cy="8229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29169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0D7B6E"/>
                </a:solidFill>
              </a:rPr>
              <a:t>SOLUTION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4965192" y="311810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D3A"/>
                </a:solidFill>
              </a:rPr>
              <a:t>Multilingual AI symptom assessment achieves 85–90% diagnostic accuracy (BMJ, 2020), routing patients correctly.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274320" y="3813048"/>
            <a:ext cx="4069080" cy="822960"/>
          </a:xfrm>
          <a:prstGeom prst="rect">
            <a:avLst/>
          </a:prstGeom>
          <a:solidFill>
            <a:srgbClr val="FDF1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813048"/>
            <a:ext cx="82296" cy="8229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587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B03030"/>
                </a:solidFill>
              </a:rPr>
              <a:t>CHALLENGE</a:t>
            </a:r>
            <a:endParaRPr lang="en-US" sz="750"/>
          </a:p>
        </p:txBody>
      </p:sp>
      <p:sp>
        <p:nvSpPr>
          <p:cNvPr id="40" name="Text 38"/>
          <p:cNvSpPr/>
          <p:nvPr/>
        </p:nvSpPr>
        <p:spPr>
          <a:xfrm>
            <a:off x="457200" y="40325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2035"/>
                </a:solidFill>
              </a:rPr>
              <a:t>Low Digital Adoption in Healthcare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457200" y="4270248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282"/>
                </a:solidFill>
              </a:rPr>
              <a:t>Many GP practices rely on outdated phone-based systems despite 75% of UK patients being open to digital health tools (Deloitte, 2022).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4370832" y="3813048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D7B6E"/>
                </a:solidFill>
              </a:rPr>
              <a:t>➜</a:t>
            </a:r>
            <a:endParaRPr lang="en-US" sz="1800"/>
          </a:p>
        </p:txBody>
      </p:sp>
      <p:sp>
        <p:nvSpPr>
          <p:cNvPr id="43" name="Shape 41"/>
          <p:cNvSpPr/>
          <p:nvPr/>
        </p:nvSpPr>
        <p:spPr>
          <a:xfrm>
            <a:off x="4782312" y="3813048"/>
            <a:ext cx="4087368" cy="822960"/>
          </a:xfrm>
          <a:prstGeom prst="rect">
            <a:avLst/>
          </a:prstGeom>
          <a:solidFill>
            <a:srgbClr val="EAF7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82312" y="3813048"/>
            <a:ext cx="82296" cy="8229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38587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0D7B6E"/>
                </a:solidFill>
              </a:rPr>
              <a:t>SOLUTION</a:t>
            </a:r>
            <a:endParaRPr lang="en-US" sz="750"/>
          </a:p>
        </p:txBody>
      </p:sp>
      <p:sp>
        <p:nvSpPr>
          <p:cNvPr id="46" name="Text 44"/>
          <p:cNvSpPr/>
          <p:nvPr/>
        </p:nvSpPr>
        <p:spPr>
          <a:xfrm>
            <a:off x="4965192" y="405993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D3A"/>
                </a:solidFill>
              </a:rPr>
              <a:t>Simple, multilingual interface designed for all digital literacy levels; phone backup retained for non-digital users.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Task Allocation – Belbin's Team Roles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Belbin (2010) – Roles matched to individual strengths and project needs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Belbin (2010)   |   Oxford International – BUSI 1725 Project Study | Sept 2025</a:t>
            </a:r>
            <a:endParaRPr lang="en-US" sz="750"/>
          </a:p>
        </p:txBody>
      </p:sp>
      <p:sp>
        <p:nvSpPr>
          <p:cNvPr id="8" name="Shape 6"/>
          <p:cNvSpPr/>
          <p:nvPr/>
        </p:nvSpPr>
        <p:spPr>
          <a:xfrm>
            <a:off x="786384" y="1005840"/>
            <a:ext cx="914400" cy="914400"/>
          </a:xfrm>
          <a:prstGeom prst="ellipse">
            <a:avLst/>
          </a:prstGeom>
          <a:solidFill>
            <a:srgbClr val="0A23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AF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228600" y="1993392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52035"/>
                </a:solidFill>
              </a:rPr>
              <a:t>Abdelmoumen Fettaka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554480" cy="2468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77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Resource Investigator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320040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5E7282"/>
                </a:solidFill>
              </a:rPr>
              <a:t>Strong focus on market research, competitor analysis, and identifying patient needs.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320040" y="3218688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Healthcare market trends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Competitor analysis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Commercial opportunities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Patient pain points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999232" y="1005840"/>
            <a:ext cx="914400" cy="914400"/>
          </a:xfrm>
          <a:prstGeom prst="ellipse">
            <a:avLst/>
          </a:prstGeom>
          <a:solidFill>
            <a:srgbClr val="0D7B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RM</a:t>
            </a:r>
            <a:endParaRPr lang="en-US" sz="2000"/>
          </a:p>
        </p:txBody>
      </p:sp>
      <p:sp>
        <p:nvSpPr>
          <p:cNvPr id="18" name="Shape 16"/>
          <p:cNvSpPr/>
          <p:nvPr/>
        </p:nvSpPr>
        <p:spPr>
          <a:xfrm>
            <a:off x="2441448" y="1993392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32888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52035"/>
                </a:solidFill>
              </a:rPr>
              <a:t>Rasuljon Murodov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2670048" y="2377440"/>
            <a:ext cx="1554480" cy="24688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2377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Product Design Manager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2532888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5E7282"/>
                </a:solidFill>
              </a:rPr>
              <a:t>Specialist in designing user experience and proposing innovative digital healthcare solutions.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2532888" y="3218688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User workflow design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AI interface concepts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User journey mapping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Interface prototypes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5212080" y="1005840"/>
            <a:ext cx="914400" cy="914400"/>
          </a:xfrm>
          <a:prstGeom prst="ellipse">
            <a:avLst/>
          </a:prstGeom>
          <a:solidFill>
            <a:srgbClr val="E8A8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WB</a:t>
            </a:r>
            <a:endParaRPr lang="en-US" sz="2000"/>
          </a:p>
        </p:txBody>
      </p:sp>
      <p:sp>
        <p:nvSpPr>
          <p:cNvPr id="26" name="Shape 24"/>
          <p:cNvSpPr/>
          <p:nvPr/>
        </p:nvSpPr>
        <p:spPr>
          <a:xfrm>
            <a:off x="4654296" y="1993392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45736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52035"/>
                </a:solidFill>
              </a:rPr>
              <a:t>Wiam Bakhattouch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4882896" y="2377440"/>
            <a:ext cx="1554480" cy="2468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2377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Financial &amp; Operations Manager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4745736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5E7282"/>
                </a:solidFill>
              </a:rPr>
              <a:t>Responsible for budgeting, implementation strategy, and organising project structure.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4745736" y="3218688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Financial planning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Pricing model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Budget allocation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Project coordination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7424928" y="1005840"/>
            <a:ext cx="914400" cy="914400"/>
          </a:xfrm>
          <a:prstGeom prst="ellipse">
            <a:avLst/>
          </a:prstGeom>
          <a:solidFill>
            <a:srgbClr val="1A6B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24928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CS</a:t>
            </a:r>
            <a:endParaRPr lang="en-US" sz="2000"/>
          </a:p>
        </p:txBody>
      </p:sp>
      <p:sp>
        <p:nvSpPr>
          <p:cNvPr id="34" name="Shape 32"/>
          <p:cNvSpPr/>
          <p:nvPr/>
        </p:nvSpPr>
        <p:spPr>
          <a:xfrm>
            <a:off x="6867144" y="1993392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58584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52035"/>
                </a:solidFill>
              </a:rPr>
              <a:t>Chan Set Naung</a:t>
            </a:r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7095744" y="2377440"/>
            <a:ext cx="1554480" cy="246888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95744" y="2377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Project Coordinator &amp; Ethics Manager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6958584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5E7282"/>
                </a:solidFill>
              </a:rPr>
              <a:t>Focuses on ethics, risk analysis, project allocation, and final presentation review.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6958584" y="3218688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Risk analysis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Legal compliance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Quality assurance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Final report &amp; slides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228600" y="4736592"/>
            <a:ext cx="8686800" cy="109728"/>
          </a:xfrm>
          <a:prstGeom prst="rect">
            <a:avLst/>
          </a:prstGeom>
          <a:solidFill>
            <a:srgbClr val="C9EDE9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0040" y="4736592"/>
            <a:ext cx="8503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D7B6E"/>
                </a:solidFill>
              </a:rPr>
              <a:t>Belbin's Team Roles Theory: Roles allocated based on individual skills and strengths to maximise team performance (Belbin, 2010).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Project Life Cycle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Initiation → Planning → Execution → Monitor → Closure  |  Kerzner (2017)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Kerzner (2017)   |   Oxford International – BUSI 1725 Project Study | Sept 2025</a:t>
            </a:r>
            <a:endParaRPr lang="en-US" sz="75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1664208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>
                <a:solidFill>
                  <a:srgbClr val="FFFFFF"/>
                </a:solidFill>
              </a:rPr>
              <a:t>INITIATION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82880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9EDE9"/>
                </a:solidFill>
              </a:rPr>
              <a:t>Week 1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182880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481328"/>
            <a:ext cx="1664208" cy="3657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Define healthcare problem &amp; scope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Begin CareRoute research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Identify stakeholders (HealthRoute Ltd)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Secure initial project approval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1847088" y="114300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E9BAF"/>
                </a:solidFill>
              </a:rPr>
              <a:t>▶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1929384" y="1005840"/>
            <a:ext cx="1664208" cy="47548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9384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>
                <a:solidFill>
                  <a:srgbClr val="FFFFFF"/>
                </a:solidFill>
              </a:rPr>
              <a:t>PLANNING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929384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9EDE9"/>
                </a:solidFill>
              </a:rPr>
              <a:t>Weeks 1–2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1929384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9384" y="1481328"/>
            <a:ext cx="1664208" cy="36576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0824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Set project goals &amp; KPIs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Develop detailed timeline &amp; Gantt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Resource &amp; budget allocation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Risk register creation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593592" y="114300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E9BAF"/>
                </a:solidFill>
              </a:rPr>
              <a:t>▶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675888" y="1005840"/>
            <a:ext cx="1664208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>
                <a:solidFill>
                  <a:srgbClr val="FFFFFF"/>
                </a:solidFill>
              </a:rPr>
              <a:t>EXECUTION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675888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9EDE9"/>
                </a:solidFill>
              </a:rPr>
              <a:t>Weeks 3–5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3675888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75888" y="1481328"/>
            <a:ext cx="1664208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Develop AI triage system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Build multilingual interface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Test booking algorithm (85–90% accuracy)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Conduct patient surveys &amp; GP interviews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340096" y="114300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E9BAF"/>
                </a:solidFill>
              </a:rPr>
              <a:t>▶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5422392" y="1005840"/>
            <a:ext cx="1664208" cy="475488"/>
          </a:xfrm>
          <a:prstGeom prst="rect">
            <a:avLst/>
          </a:prstGeom>
          <a:solidFill>
            <a:srgbClr val="4A6275"/>
          </a:solidFill>
          <a:ln w="12700">
            <a:solidFill>
              <a:srgbClr val="4A62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22392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>
                <a:solidFill>
                  <a:srgbClr val="FFFFFF"/>
                </a:solidFill>
              </a:rPr>
              <a:t>MONITOR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5422392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9EDE9"/>
                </a:solidFill>
              </a:rPr>
              <a:t>Weeks 3–5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5422392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22392" y="1481328"/>
            <a:ext cx="1664208" cy="36576"/>
          </a:xfrm>
          <a:prstGeom prst="rect">
            <a:avLst/>
          </a:prstGeom>
          <a:solidFill>
            <a:srgbClr val="4A6275"/>
          </a:solidFill>
          <a:ln w="12700">
            <a:solidFill>
              <a:srgbClr val="4A62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Track deadlines &amp; task progress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Review KPI performance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Quality checks on deliverables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Team coordination meetings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7086600" y="114300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E9BAF"/>
                </a:solidFill>
              </a:rPr>
              <a:t>▶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7168896" y="1005840"/>
            <a:ext cx="1664208" cy="475488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>
                <a:solidFill>
                  <a:srgbClr val="FFFFFF"/>
                </a:solidFill>
              </a:rPr>
              <a:t>CLOSURE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7168896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9EDE9"/>
                </a:solidFill>
              </a:rPr>
              <a:t>Weeks 5–6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7168896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68896" y="1481328"/>
            <a:ext cx="1664208" cy="36576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0336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Final report &amp; presentation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Evaluate project outcomes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Stakeholder feedback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1E2D3A"/>
                </a:solidFill>
              </a:rPr>
              <a:t>Full pilot programme handover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Project Deliverables &amp; KPIs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Measurable outcomes linked to CareRoute's objectives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NHS England (2022); NHS Digital (2023); BMJ (2020); Deloitte (2022)   |   Oxford International – BUSI 1725 Project Study | Sept 2025</a:t>
            </a:r>
            <a:endParaRPr lang="en-US" sz="75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</a:rPr>
              <a:t>Key Deliverables</a:t>
            </a:r>
            <a:endParaRPr lang="en-US" sz="13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4206240" cy="16611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E2D3A"/>
                          </a:solidFill>
                        </a:rPr>
                        <a:t>AI Triage Algorithm (85–90% accuracy)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D7B6E"/>
                          </a:solidFill>
                        </a:rPr>
                        <a:t>Tangible – Software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E2D3A"/>
                          </a:solidFill>
                        </a:rPr>
                        <a:t>Multilingual Patient Interface (web/app)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D7B6E"/>
                          </a:solidFill>
                        </a:rPr>
                        <a:t>Tangible – Product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E2D3A"/>
                          </a:solidFill>
                        </a:rPr>
                        <a:t>GP Clinic Pilot Programme (2–3 clinics)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D7B6E"/>
                          </a:solidFill>
                        </a:rPr>
                        <a:t>Tangible – Service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E2D3A"/>
                          </a:solidFill>
                        </a:rPr>
                        <a:t>Patient Satisfaction Survey System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D7B6E"/>
                          </a:solidFill>
                        </a:rPr>
                        <a:t>Tangible – Tool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E2D3A"/>
                          </a:solidFill>
                        </a:rPr>
                        <a:t>Booking Time Reduction (30–40%)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D7B6E"/>
                          </a:solidFill>
                        </a:rPr>
                        <a:t>Intangible – Efficiency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E2D3A"/>
                          </a:solidFill>
                        </a:rPr>
                        <a:t>Workload Reduction Report (20–30%)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D7B6E"/>
                          </a:solidFill>
                        </a:rPr>
                        <a:t>Intangible – Report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0916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</a:rPr>
              <a:t>KPI Targets</a:t>
            </a:r>
            <a:endParaRPr lang="en-US" sz="1300"/>
          </a:p>
        </p:txBody>
      </p:sp>
      <p:graphicFrame>
        <p:nvGraphicFramePr>
          <p:cNvPr id="11" name="Chart 0"/>
          <p:cNvGraphicFramePr/>
          <p:nvPr/>
        </p:nvGraphicFramePr>
        <p:xfrm>
          <a:off x="4663440" y="1298448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8"/>
          <p:cNvSpPr/>
          <p:nvPr/>
        </p:nvSpPr>
        <p:spPr>
          <a:xfrm>
            <a:off x="274320" y="4617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5E7282"/>
                </a:solidFill>
              </a:rPr>
              <a:t>Sources: NHS England (2022); NHS Digital (2023); BMJ (2020); Deloitte (2022)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Project Outcomes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Expected results and justification based on NHS evidence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NHS England (2022); NHS Digital (2023); BMJ (2020)   |   Oxford International – BUSI 1725 Project Study | Sept 2025</a:t>
            </a:r>
            <a:endParaRPr lang="en-US" sz="75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015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A6B45"/>
                          </a:solidFill>
                        </a:rPr>
                        <a:t>Booking time ↓ 30–40%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AI triage enables faster scheduling, reducing patient waiting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>
                          <a:solidFill>
                            <a:srgbClr val="000000"/>
                          </a:solidFill>
                        </a:rPr>
                        <a:t>~50% of patients wait over 2 weeks for a GP appointment (NHS England, 2023)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D7B6E"/>
                          </a:solidFill>
                        </a:rPr>
                        <a:t>Access to care ↑ 25–35%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Patients directed to appropriate care (urgent, routine, self-care)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>
                          <a:solidFill>
                            <a:srgbClr val="000000"/>
                          </a:solidFill>
                        </a:rPr>
                        <a:t>Accurate triage improves safety and efficiency (BMJ, 2020)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A6B45"/>
                          </a:solidFill>
                        </a:rPr>
                        <a:t>Workload ↓ 20–30%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Automation reduces manual calls and bookings by reception staff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>
                          <a:solidFill>
                            <a:srgbClr val="000000"/>
                          </a:solidFill>
                        </a:rPr>
                        <a:t>Up to 30% of GP appointments could be automated (BMJ, 2020)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D7B6E"/>
                          </a:solidFill>
                        </a:rPr>
                        <a:t>Patient satisfaction 85%+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Faster access and improved communication with healthcare providers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>
                          <a:solidFill>
                            <a:srgbClr val="000000"/>
                          </a:solidFill>
                        </a:rPr>
                        <a:t>High satisfaction reflects improved healthcare experience (NHS England, 2022)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A6B45"/>
                          </a:solidFill>
                        </a:rPr>
                        <a:t>Adoption rate 60–70%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Majority of patients regularly use AI system for bookings within 1 year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>
                          <a:solidFill>
                            <a:srgbClr val="000000"/>
                          </a:solidFill>
                        </a:rPr>
                        <a:t>Strong adoption reflects trust and platform effectiveness (NHS England, 2022)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Risk Management Strategy</a:t>
            </a:r>
            <a:endParaRPr lang="en-US" sz="190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ICO (2023); BMJ (2020); NHS Digital (2023)   |   Oxford International – BUSI 1725 Project Study | Sept 2025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</a:rPr>
              <a:t>Risk Register</a:t>
            </a:r>
            <a:endParaRPr lang="en-US" sz="13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4206240" cy="307238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RESPONSIBLE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Data Security Breach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Chan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AI Inaccurate Triage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Rasuljon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System/Tech Failure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Rasuljon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Patient Trust/Adoption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Moumen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Digital Accessibility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Moumen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Legal/GDPR Non-compliance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6B45"/>
                          </a:solidFill>
                        </a:rPr>
                        <a:t>LOW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Chan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Budget Overrun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Wiam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9875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</a:rPr>
              <a:t>Key Risk Distribution</a:t>
            </a:r>
            <a:endParaRPr lang="en-US" sz="1300"/>
          </a:p>
        </p:txBody>
      </p:sp>
      <p:graphicFrame>
        <p:nvGraphicFramePr>
          <p:cNvPr id="8" name="Chart 0"/>
          <p:cNvGraphicFramePr/>
          <p:nvPr/>
        </p:nvGraphicFramePr>
        <p:xfrm>
          <a:off x="5486400" y="1261872"/>
          <a:ext cx="3383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274320" y="431596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</a:rPr>
              <a:t>Key Mitigations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274320" y="4581144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2342"/>
                </a:solidFill>
              </a:rPr>
              <a:t>🔒 Data Security  </a:t>
            </a:r>
            <a:r>
              <a:rPr lang="en-US" sz="900">
                <a:solidFill>
                  <a:srgbClr val="1E2D3A"/>
                </a:solidFill>
              </a:rPr>
              <a:t>Apply GDPR procedures; encrypted cloud storage (ICO, 2023)</a:t>
            </a:r>
            <a:endParaRPr lang="en-US" sz="900"/>
          </a:p>
        </p:txBody>
      </p:sp>
      <p:sp>
        <p:nvSpPr>
          <p:cNvPr id="13" name="Text 9"/>
          <p:cNvSpPr/>
          <p:nvPr/>
        </p:nvSpPr>
        <p:spPr>
          <a:xfrm>
            <a:off x="4617720" y="4581144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2342"/>
                </a:solidFill>
              </a:rPr>
              <a:t>🤖 AI Accuracy  </a:t>
            </a:r>
            <a:r>
              <a:rPr lang="en-US" sz="900">
                <a:solidFill>
                  <a:srgbClr val="1E2D3A"/>
                </a:solidFill>
              </a:rPr>
              <a:t>GP review of AI recommendations; continuous system updates (BMJ, 2020)</a:t>
            </a:r>
            <a:endParaRPr lang="en-US" sz="900"/>
          </a:p>
        </p:txBody>
      </p:sp>
      <p:sp>
        <p:nvSpPr>
          <p:cNvPr id="14" name="Text 10"/>
          <p:cNvSpPr/>
          <p:nvPr/>
        </p:nvSpPr>
        <p:spPr>
          <a:xfrm>
            <a:off x="274320" y="4782312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2342"/>
                </a:solidFill>
              </a:rPr>
              <a:t>📱 Accessibility  </a:t>
            </a:r>
            <a:r>
              <a:rPr lang="en-US" sz="900">
                <a:solidFill>
                  <a:srgbClr val="1E2D3A"/>
                </a:solidFill>
              </a:rPr>
              <a:t>Phone booking backup; simple multilingual interface design</a:t>
            </a:r>
            <a:endParaRPr lang="en-US" sz="900"/>
          </a:p>
        </p:txBody>
      </p:sp>
      <p:sp>
        <p:nvSpPr>
          <p:cNvPr id="15" name="Text 11"/>
          <p:cNvSpPr/>
          <p:nvPr/>
        </p:nvSpPr>
        <p:spPr>
          <a:xfrm>
            <a:off x="4617720" y="4782312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2342"/>
                </a:solidFill>
              </a:rPr>
              <a:t>💰 Budget  </a:t>
            </a:r>
            <a:r>
              <a:rPr lang="en-US" sz="900">
                <a:solidFill>
                  <a:srgbClr val="1E2D3A"/>
                </a:solidFill>
              </a:rPr>
              <a:t>Regular spending monitoring; contingency fund allocation (Wiam)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Project Plan &amp; Gantt Chart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6-week implementation timeline for CareRoute development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Kerzner (2017)   |   Oxford International – BUSI 1725 Project Study | Sept 2025</a:t>
            </a:r>
            <a:endParaRPr lang="en-US" sz="75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</a:rPr>
              <a:t>Project Milestones &amp; Task Timeline</a:t>
            </a:r>
            <a:endParaRPr lang="en-US" sz="13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61872"/>
          <a:ext cx="8668512" cy="341985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TASK / ACTIVITY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LEAD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Week 6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Market Research &amp; NHS Analysis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Moumen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Project Planning &amp; KPI Setting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All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AI Triage Algorithm Development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Rasuljon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Multilingual Interface Design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Rasuljon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Financial Planning &amp; Budget Model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Wiam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Patient Surveys &amp; GP Interviews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Moumen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Risk Analysis &amp; Ethics Review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Chan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GP Clinic Pilot (2–3 clinics)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All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Final Report &amp; Presentation Prep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All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1E2D3A"/>
                          </a:solidFill>
                        </a:rPr>
                        <a:t>Presentation &amp; Submission</a:t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5E7282"/>
                          </a:solidFill>
                        </a:rPr>
                        <a:t>All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645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5E7282"/>
                </a:solidFill>
              </a:rPr>
              <a:t>Source: Project Life Cycle adapted from Kerzner, H. (2017). Project Management: A Systems Approach to Planning, Scheduling, and Controlling. 12th ed. New Jersey: Wiley.</a:t>
            </a:r>
            <a:endParaRPr 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Estimated Budget Plan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Budget structured using the 7Ps Marketing Mix framework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BMJ (2020); Deloitte (2022)   |   Oxford International – BUSI 1725 Project Study | Sept 2025</a:t>
            </a:r>
            <a:endParaRPr lang="en-US" sz="75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</a:rPr>
              <a:t>Budget Breakdown by Stage</a:t>
            </a:r>
            <a:endParaRPr lang="en-US" sz="13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4846320" cy="27432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WEEKS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BUDGET %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THEORY LINK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E2D3A"/>
                          </a:solidFill>
                        </a:rPr>
                        <a:t>Research &amp; Planning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1–2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A6B45"/>
                          </a:solidFill>
                        </a:rPr>
                        <a:t>10%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>
                          <a:solidFill>
                            <a:srgbClr val="5E7282"/>
                          </a:solidFill>
                        </a:rPr>
                        <a:t>Market Research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E2D3A"/>
                          </a:solidFill>
                        </a:rPr>
                        <a:t>Development &amp; Testing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3–5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342"/>
                          </a:solidFill>
                        </a:rPr>
                        <a:t>45%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>
                          <a:solidFill>
                            <a:srgbClr val="5E7282"/>
                          </a:solidFill>
                        </a:rPr>
                        <a:t>Product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E2D3A"/>
                          </a:solidFill>
                        </a:rPr>
                        <a:t>Marketing &amp; Acquisition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5–6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D7B6E"/>
                          </a:solidFill>
                        </a:rPr>
                        <a:t>25%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>
                          <a:solidFill>
                            <a:srgbClr val="5E7282"/>
                          </a:solidFill>
                        </a:rPr>
                        <a:t>Promotion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E2D3A"/>
                          </a:solidFill>
                        </a:rPr>
                        <a:t>Implementation &amp; Training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6–7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C87D00"/>
                          </a:solidFill>
                        </a:rPr>
                        <a:t>20%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>
                          <a:solidFill>
                            <a:srgbClr val="5E7282"/>
                          </a:solidFill>
                        </a:rPr>
                        <a:t>People &amp; Process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1–7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8A838"/>
                          </a:solidFill>
                        </a:rPr>
                        <a:t>100%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>
                          <a:solidFill>
                            <a:srgbClr val="C9EDE9"/>
                          </a:solidFill>
                        </a:rPr>
                        <a:t>7Ps Framework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09651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1E2D3A"/>
                </a:solidFill>
              </a:rPr>
              <a:t>The budget reflects a structured approach aligned with the 7Ps Marketing Mix (BMJ, 2020;</a:t>
            </a:r>
            <a:endParaRPr lang="en-US" sz="950"/>
          </a:p>
          <a:p>
            <a:pPr marL="0" indent="0">
              <a:buNone/>
            </a:pPr>
            <a:r>
              <a:rPr lang="en-US" sz="950" i="1">
                <a:solidFill>
                  <a:srgbClr val="1E2D3A"/>
                </a:solidFill>
              </a:rPr>
              <a:t>Deloitte, 2022), with 45% development ensuring 85–90% AI accuracy, 25% marketing</a:t>
            </a:r>
            <a:endParaRPr lang="en-US" sz="950"/>
          </a:p>
          <a:p>
            <a:pPr marL="0" indent="0">
              <a:buNone/>
            </a:pPr>
            <a:r>
              <a:rPr lang="en-US" sz="950" i="1">
                <a:solidFill>
                  <a:srgbClr val="1E2D3A"/>
                </a:solidFill>
              </a:rPr>
              <a:t>targeting 60–70% adoption, and 20% implementation reducing workload by 20–30%.</a:t>
            </a:r>
            <a:endParaRPr lang="en-US" sz="950"/>
          </a:p>
        </p:txBody>
      </p:sp>
      <p:sp>
        <p:nvSpPr>
          <p:cNvPr id="11" name="Text 8"/>
          <p:cNvSpPr/>
          <p:nvPr/>
        </p:nvSpPr>
        <p:spPr>
          <a:xfrm>
            <a:off x="5349240" y="960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</a:rPr>
              <a:t>Budget Allocation (%)</a:t>
            </a:r>
            <a:endParaRPr lang="en-US" sz="1300"/>
          </a:p>
        </p:txBody>
      </p:sp>
      <p:graphicFrame>
        <p:nvGraphicFramePr>
          <p:cNvPr id="9" name="Chart 0"/>
          <p:cNvGraphicFramePr/>
          <p:nvPr/>
        </p:nvGraphicFramePr>
        <p:xfrm>
          <a:off x="5257800" y="1234440"/>
          <a:ext cx="35661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Research Process &amp; Assumptions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Evidence-based approach to CareRoute development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ONS (2023); Deloitte (2022); NHS England (2023); BMJ (2020)   |   Oxford International – BUSI 1725 Project Study | Sept 2025</a:t>
            </a:r>
            <a:endParaRPr lang="en-US" sz="75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4114800" cy="329184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05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Research Process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84048" y="1499616"/>
            <a:ext cx="256032" cy="256032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731520" y="1444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</a:rPr>
              <a:t>Primary Data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D3A"/>
                </a:solidFill>
              </a:rPr>
              <a:t>100–150 patient surveys via Google Forms; 15–20 GP staff interviews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84048" y="2276856"/>
            <a:ext cx="256032" cy="256032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731520" y="2221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</a:rPr>
              <a:t>Data Channels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731520" y="24963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D3A"/>
                </a:solidFill>
              </a:rPr>
              <a:t>Instagram, LinkedIn, NHS forums, GP partnerships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84048" y="3054096"/>
            <a:ext cx="256032" cy="256032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31520" y="2999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</a:rPr>
              <a:t>Secondary Data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31520" y="32735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D3A"/>
                </a:solidFill>
              </a:rPr>
              <a:t>NHS reports, academic journals, healthcare studies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84048" y="3831336"/>
            <a:ext cx="256032" cy="256032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731520" y="3776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</a:rPr>
              <a:t>Data Analysis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731520" y="40507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D3A"/>
                </a:solidFill>
              </a:rPr>
              <a:t>Quantitative (KPIs/percentages) + Qualitative (user feedback)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4572000" y="100584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005840"/>
            <a:ext cx="429768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Key Assumptions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617720" y="1444752"/>
            <a:ext cx="4206240" cy="713232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1481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7B6E"/>
                </a:solidFill>
              </a:rPr>
              <a:t>✓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010912" y="1444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52035"/>
                </a:solidFill>
              </a:rPr>
              <a:t>Patients have digital access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010912" y="1764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E7282"/>
                </a:solidFill>
              </a:rPr>
              <a:t>~92% of UK adults use the internet (ONS, 2023)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617720" y="222199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258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7B6E"/>
                </a:solidFill>
              </a:rPr>
              <a:t>✓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5010912" y="2221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52035"/>
                </a:solidFill>
              </a:rPr>
              <a:t>GP clinics adopt digital tools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5010912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E7282"/>
                </a:solidFill>
              </a:rPr>
              <a:t>60%+ of GP appointments involve digital interaction (NHS England, 2023)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4617720" y="2999232"/>
            <a:ext cx="4206240" cy="713232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440" y="3035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7B6E"/>
                </a:solidFill>
              </a:rPr>
              <a:t>✓</a:t>
            </a:r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5010912" y="2999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52035"/>
                </a:solidFill>
              </a:rPr>
              <a:t>AI delivers reliable triage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5010912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E7282"/>
                </a:solidFill>
              </a:rPr>
              <a:t>Digital triage can reach 85–90% accuracy (BMJ, 2020)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4617720" y="377647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3813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7B6E"/>
                </a:solidFill>
              </a:rPr>
              <a:t>✓</a:t>
            </a:r>
            <a:endParaRPr lang="en-US" sz="1400"/>
          </a:p>
        </p:txBody>
      </p:sp>
      <p:sp>
        <p:nvSpPr>
          <p:cNvPr id="44" name="Text 42"/>
          <p:cNvSpPr/>
          <p:nvPr/>
        </p:nvSpPr>
        <p:spPr>
          <a:xfrm>
            <a:off x="5010912" y="3776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52035"/>
                </a:solidFill>
              </a:rPr>
              <a:t>Patients trust digital healthcare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5010912" y="40965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E7282"/>
                </a:solidFill>
              </a:rPr>
              <a:t>75% of UK patients open to digital health services (Deloitte, 2022)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7B6E">
              <a:alpha val="12000"/>
            </a:srgbClr>
          </a:solidFill>
          <a:ln w="12700">
            <a:solidFill>
              <a:srgbClr val="0D7B6E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Presentation Summary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114800" cy="0"/>
          </a:xfrm>
          <a:prstGeom prst="line">
            <a:avLst/>
          </a:prstGeom>
          <a:noFill/>
          <a:ln w="19050">
            <a:solidFill>
              <a:srgbClr val="E8A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A838"/>
                </a:solidFill>
              </a:rPr>
              <a:t>🏥  The Problem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94360" y="14356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9EDE9"/>
                </a:solidFill>
              </a:rPr>
              <a:t>Over 300M GP consultations annually; 50% of patients wait &gt;2 weeks for appointments (NHS England, 2023).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A838"/>
                </a:solidFill>
              </a:rPr>
              <a:t>💡  Our Solution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029200" y="14356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9EDE9"/>
                </a:solidFill>
              </a:rPr>
              <a:t>CareRoute: AI-powered multilingual triage and appointment booking system for independent GP practices.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57200" y="230428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A838"/>
                </a:solidFill>
              </a:rPr>
              <a:t>🎯  Key Outcomes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94360" y="271576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9EDE9"/>
                </a:solidFill>
              </a:rPr>
              <a:t>30–40% booking time reduction | 25–35% improved access | 85%+ patient satisfaction (BMJ, 2020).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892040" y="230428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A838"/>
                </a:solidFill>
              </a:rPr>
              <a:t>📊  Market Opportunity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029200" y="271576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9EDE9"/>
                </a:solidFill>
              </a:rPr>
              <a:t>75% of UK patients open to digital health tools — ideal commercial timing (Deloitte, 2022).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A838"/>
                </a:solidFill>
              </a:rPr>
              <a:t>💰  Budget Structure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94360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9EDE9"/>
                </a:solidFill>
              </a:rPr>
              <a:t>45% development (AI accuracy) | 25% marketing (60–70% adoption) | 20% implementation.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892040" y="358444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A838"/>
                </a:solidFill>
              </a:rPr>
              <a:t>✅  Risk Managed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029200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9EDE9"/>
                </a:solidFill>
              </a:rPr>
              <a:t>GDPR compliance, GP review protocols, multilingual accessibility, and phone booking backup.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E9BAF"/>
                </a:solidFill>
              </a:rPr>
              <a:t>CareRoute is positioned as a fast, multilingual, accessible digital assistant for independent GP practices across the UK.</a:t>
            </a:r>
            <a:endParaRPr lang="en-US" sz="8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D7B6E">
              <a:alpha val="12000"/>
            </a:srgbClr>
          </a:solidFill>
          <a:ln w="12700">
            <a:solidFill>
              <a:srgbClr val="0D7B6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286000"/>
            <a:ext cx="1828800" cy="1828800"/>
          </a:xfrm>
          <a:prstGeom prst="ellipse">
            <a:avLst/>
          </a:prstGeom>
          <a:solidFill>
            <a:srgbClr val="E8A838">
              <a:alpha val="10000"/>
            </a:srgbClr>
          </a:solidFill>
          <a:ln w="12700">
            <a:solidFill>
              <a:srgbClr val="E8A83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371600"/>
            <a:ext cx="2286000" cy="2286000"/>
          </a:xfrm>
          <a:prstGeom prst="ellipse">
            <a:avLst/>
          </a:prstGeom>
          <a:solidFill>
            <a:srgbClr val="0D7B6E">
              <a:alpha val="10000"/>
            </a:srgbClr>
          </a:solidFill>
          <a:ln w="12700">
            <a:solidFill>
              <a:srgbClr val="0D7B6E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</a:rPr>
              <a:t>Thank You</a:t>
            </a:r>
            <a:endParaRPr lang="en-US" sz="480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E8A838"/>
                </a:solidFill>
              </a:rPr>
              <a:t>Questions &amp; Discussion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2743200" y="2633472"/>
            <a:ext cx="3657600" cy="0"/>
          </a:xfrm>
          <a:prstGeom prst="line">
            <a:avLst/>
          </a:prstGeom>
          <a:noFill/>
          <a:ln w="19050">
            <a:solidFill>
              <a:srgbClr val="0D7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9EDE9"/>
                </a:solidFill>
              </a:rPr>
              <a:t>Team InnovateCare  |  CareRoute AI Assistant Project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E9BAF"/>
                </a:solidFill>
              </a:rPr>
              <a:t>Wiam Bakhattouch  |  Abdelmoumen Fettaka  |  Chan Set Naung  |  Rasuljon Murodov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E9BAF"/>
                </a:solidFill>
              </a:rPr>
              <a:t>Oxford International Pathway Centres  |  BUSI 1725 Project Study  |  September 2025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</a:rPr>
              <a:t>References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7B6E"/>
                </a:solidFill>
              </a:rPr>
              <a:t>Harvard Referencing Style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E9BAF"/>
                </a:solidFill>
              </a:rPr>
              <a:t>Oxford International Pathway Centres – BUSI 1725 Project Study | September 2025</a:t>
            </a:r>
            <a:endParaRPr lang="en-US" sz="750"/>
          </a:p>
        </p:txBody>
      </p:sp>
      <p:sp>
        <p:nvSpPr>
          <p:cNvPr id="8" name="Shape 6"/>
          <p:cNvSpPr/>
          <p:nvPr/>
        </p:nvSpPr>
        <p:spPr>
          <a:xfrm>
            <a:off x="256032" y="1060704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058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Babylon Health (2021) Digital healthcare and AI triage systems. Available at: https://www.babylonhealth.com (Accessed: 1 May 2026).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256032" y="1673352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6184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Belbin, R.M. (2010) Team Roles at Work. 2nd ed. Oxford: Butterworth-Heinemann.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256032" y="2286000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3113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BMA (2023) Safe working in general practice. British Medical Association. Available at: https://www.bma.org.uk (Accessed: 1 May 2026).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256032" y="2898648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4378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BMJ (2020) The potential of digital triage systems in primary care. British Medical Journal.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256032" y="3511296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45643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Deloitte (2022) Digital healthcare trends in the UK. Available at: https://www.deloitte.com (Accessed: 3 May 2026).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256032" y="4123944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4069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Information Commissioner's Office (ICO) (2023) Data security incidents in healthcare. Available at: https://ico.org.uk (Accessed: 2 May 2026).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4754880" y="1060704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0058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Kerzner, H. (2017) Project Management: A Systems Approach to Planning, Scheduling, and Controlling. 12th ed. New Jersey: Wiley.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4754880" y="1673352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184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NHS Digital (2023) Appointments in General Practice. Available at: https://digital.nhs.uk (Accessed: 15 May 2026).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3113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NHS England (2022) General practice statistics and consultation data. Available at: https://www.england.nhs.uk (Accessed: 7 May 2026).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4754880" y="2898648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84378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NHS England (2023) Patient access and waiting times in primary care. Available at: https://www.england.nhs.uk (Accessed: 11 May 2026).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4754880" y="3511296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45643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ONS (2023) Internet users in the UK. Office for National Statistics. Available at: https://www.ons.gov.uk (Accessed: 6 May 2026).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4754880" y="4123944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069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D3A"/>
                </a:solidFill>
              </a:rPr>
              <a:t>PwC (2021) UK public attitudes towards AI in healthcare. Available at: https://www.pwc.co.uk (Accessed: 13 May 2026).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CareRoute AI Assistant Project</dc:title>
  <dc:subject>PptxGenJS Presentation</dc:subject>
  <dc:creator>PptxGenJS</dc:creator>
  <cp:revision>2</cp:revision>
  <dcterms:created xsi:type="dcterms:W3CDTF">2026-05-21T21:18:29Z</dcterms:created>
  <dcterms:modified xsi:type="dcterms:W3CDTF">2026-05-22T10:45:52Z</dcterms:modified>
</cp:coreProperties>
</file>